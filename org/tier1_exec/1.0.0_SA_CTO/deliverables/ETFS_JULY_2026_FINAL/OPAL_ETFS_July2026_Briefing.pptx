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Inflection daily total ($M): published vs true-settled</a:t>
            </a:r>
          </a:p>
        </c:rich>
      </c:tx>
      <c:layout/>
      <c:overlay val="0"/>
    </c:title>
    <c:autoTitleDeleted val="0"/>
    <c:plotArea>
      <c:layout/>
      <c:lineChart>
        <c:varyColors val="0"/>
        <c:ser>
          <c:idx val="0"/>
          <c:order val="0"/>
          <c:tx>
            <c:strRef>
              <c:f>Sheet1!$B$1</c:f>
              <c:strCache>
                <c:ptCount val="1"/>
                <c:pt idx="0">
                  <c:v>Published labels</c:v>
                </c:pt>
              </c:strCache>
            </c:strRef>
          </c:tx>
          <c:spPr>
            <a:solidFill>
              <a:srgbClr val="4A5A9E"/>
            </a:solidFill>
            <a:ln w="31750" cap="flat">
              <a:solidFill>
                <a:srgbClr val="4A5A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5A9E"/>
              </a:solidFill>
              <a:ln w="9525" cap="flat">
                <a:solidFill>
                  <a:srgbClr val="4A5A9E"/>
                </a:solidFill>
                <a:prstDash val="solid"/>
                <a:round/>
              </a:ln>
              <a:effectLst/>
            </c:spPr>
          </c:marker>
          <c:cat>
            <c:multiLvlStrRef>
              <c:f>Sheet1!$A$2:$A$23</c:f>
              <c:multiLvlStrCache>
                <c:ptCount val="22"/>
                <c:lvl>
                  <c:pt idx="0">
                    <c:v>07-01</c:v>
                  </c:pt>
                  <c:pt idx="1">
                    <c:v>07-02</c:v>
                  </c:pt>
                  <c:pt idx="2">
                    <c:v>07-06</c:v>
                  </c:pt>
                  <c:pt idx="3">
                    <c:v>07-07</c:v>
                  </c:pt>
                  <c:pt idx="4">
                    <c:v>07-08</c:v>
                  </c:pt>
                  <c:pt idx="5">
                    <c:v>07-09</c:v>
                  </c:pt>
                  <c:pt idx="6">
                    <c:v>07-10</c:v>
                  </c:pt>
                  <c:pt idx="7">
                    <c:v>07-13</c:v>
                  </c:pt>
                  <c:pt idx="8">
                    <c:v>07-14</c:v>
                  </c:pt>
                  <c:pt idx="9">
                    <c:v>07-15</c:v>
                  </c:pt>
                  <c:pt idx="10">
                    <c:v>07-16</c:v>
                  </c:pt>
                  <c:pt idx="11">
                    <c:v>07-17</c:v>
                  </c:pt>
                  <c:pt idx="12">
                    <c:v>07-20</c:v>
                  </c:pt>
                  <c:pt idx="13">
                    <c:v>07-21</c:v>
                  </c:pt>
                  <c:pt idx="14">
                    <c:v>07-22</c:v>
                  </c:pt>
                  <c:pt idx="15">
                    <c:v>07-23</c:v>
                  </c:pt>
                  <c:pt idx="16">
                    <c:v>07-24</c:v>
                  </c:pt>
                  <c:pt idx="17">
                    <c:v>07-27</c:v>
                  </c:pt>
                  <c:pt idx="18">
                    <c:v>07-28</c:v>
                  </c:pt>
                  <c:pt idx="19">
                    <c:v>07-29</c:v>
                  </c:pt>
                  <c:pt idx="20">
                    <c:v>07-30</c:v>
                  </c:pt>
                  <c:pt idx="21">
                    <c:v>07-31</c:v>
                  </c:pt>
                </c:lvl>
              </c:multiLvlStrCache>
            </c:multiLvlStrRef>
          </c:cat>
          <c:val>
            <c:numRef>
              <c:f>Sheet1!$B$2:$B$23</c:f>
              <c:numCache>
                <c:formatCode>General</c:formatCode>
                <c:ptCount val="22"/>
                <c:pt idx="0">
                  <c:v>42.61931477</c:v>
                </c:pt>
                <c:pt idx="1">
                  <c:v>42.45006942</c:v>
                </c:pt>
                <c:pt idx="2">
                  <c:v>43.101960670000004</c:v>
                </c:pt>
                <c:pt idx="3">
                  <c:v>43.1948274</c:v>
                </c:pt>
                <c:pt idx="4">
                  <c:v>43.218196549999995</c:v>
                </c:pt>
                <c:pt idx="5">
                  <c:v>44.17508664</c:v>
                </c:pt>
                <c:pt idx="6">
                  <c:v>44.17741064</c:v>
                </c:pt>
                <c:pt idx="7">
                  <c:v>47.98090879</c:v>
                </c:pt>
                <c:pt idx="8">
                  <c:v>48.10297765</c:v>
                </c:pt>
                <c:pt idx="9">
                  <c:v>48.066770420000005</c:v>
                </c:pt>
                <c:pt idx="10">
                  <c:v>48.10297765</c:v>
                </c:pt>
                <c:pt idx="11">
                  <c:v>48.81634625</c:v>
                </c:pt>
                <c:pt idx="12">
                  <c:v>48.61445313</c:v>
                </c:pt>
                <c:pt idx="13">
                  <c:v>48.491241880000004</c:v>
                </c:pt>
                <c:pt idx="14">
                  <c:v>48.867389100000004</c:v>
                </c:pt>
                <c:pt idx="15">
                  <c:v>50.66970936</c:v>
                </c:pt>
                <c:pt idx="16">
                  <c:v>50.23997904</c:v>
                </c:pt>
                <c:pt idx="17">
                  <c:v>50.46760984</c:v>
                </c:pt>
                <c:pt idx="18">
                  <c:v>50.61550511</c:v>
                </c:pt>
                <c:pt idx="19">
                  <c:v>51.28099634</c:v>
                </c:pt>
                <c:pt idx="20">
                  <c:v>52.017524869999995</c:v>
                </c:pt>
                <c:pt idx="21">
                  <c:v>52.1125964</c:v>
                </c:pt>
              </c:numCache>
            </c:numRef>
          </c:val>
          <c:smooth val="0"/>
        </c:ser>
        <c:ser>
          <c:idx val="1"/>
          <c:order val="1"/>
          <c:tx>
            <c:strRef>
              <c:f>Sheet1!$C$1</c:f>
              <c:strCache>
                <c:ptCount val="1"/>
                <c:pt idx="0">
                  <c:v>True settled</c:v>
                </c:pt>
              </c:strCache>
            </c:strRef>
          </c:tx>
          <c:spPr>
            <a:solidFill>
              <a:srgbClr val="C9A227"/>
            </a:solidFill>
            <a:ln w="3175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Sheet1!$A$2:$A$23</c:f>
              <c:multiLvlStrCache>
                <c:ptCount val="22"/>
                <c:lvl>
                  <c:pt idx="0">
                    <c:v>07-01</c:v>
                  </c:pt>
                  <c:pt idx="1">
                    <c:v>07-02</c:v>
                  </c:pt>
                  <c:pt idx="2">
                    <c:v>07-06</c:v>
                  </c:pt>
                  <c:pt idx="3">
                    <c:v>07-07</c:v>
                  </c:pt>
                  <c:pt idx="4">
                    <c:v>07-08</c:v>
                  </c:pt>
                  <c:pt idx="5">
                    <c:v>07-09</c:v>
                  </c:pt>
                  <c:pt idx="6">
                    <c:v>07-10</c:v>
                  </c:pt>
                  <c:pt idx="7">
                    <c:v>07-13</c:v>
                  </c:pt>
                  <c:pt idx="8">
                    <c:v>07-14</c:v>
                  </c:pt>
                  <c:pt idx="9">
                    <c:v>07-15</c:v>
                  </c:pt>
                  <c:pt idx="10">
                    <c:v>07-16</c:v>
                  </c:pt>
                  <c:pt idx="11">
                    <c:v>07-17</c:v>
                  </c:pt>
                  <c:pt idx="12">
                    <c:v>07-20</c:v>
                  </c:pt>
                  <c:pt idx="13">
                    <c:v>07-21</c:v>
                  </c:pt>
                  <c:pt idx="14">
                    <c:v>07-22</c:v>
                  </c:pt>
                  <c:pt idx="15">
                    <c:v>07-23</c:v>
                  </c:pt>
                  <c:pt idx="16">
                    <c:v>07-24</c:v>
                  </c:pt>
                  <c:pt idx="17">
                    <c:v>07-27</c:v>
                  </c:pt>
                  <c:pt idx="18">
                    <c:v>07-28</c:v>
                  </c:pt>
                  <c:pt idx="19">
                    <c:v>07-29</c:v>
                  </c:pt>
                  <c:pt idx="20">
                    <c:v>07-30</c:v>
                  </c:pt>
                  <c:pt idx="21">
                    <c:v>07-31</c:v>
                  </c:pt>
                </c:lvl>
              </c:multiLvlStrCache>
            </c:multiLvlStrRef>
          </c:cat>
          <c:val>
            <c:numRef>
              <c:f>Sheet1!$C$2:$C$23</c:f>
              <c:numCache>
                <c:formatCode>General</c:formatCode>
                <c:ptCount val="22"/>
                <c:pt idx="0">
                  <c:v>42.45006942</c:v>
                </c:pt>
                <c:pt idx="1">
                  <c:v>43.101960670000004</c:v>
                </c:pt>
                <c:pt idx="2">
                  <c:v>43.1948274</c:v>
                </c:pt>
                <c:pt idx="3">
                  <c:v>43.218196549999995</c:v>
                </c:pt>
                <c:pt idx="4">
                  <c:v>44.17508664</c:v>
                </c:pt>
                <c:pt idx="5">
                  <c:v>44.17741064</c:v>
                </c:pt>
                <c:pt idx="6">
                  <c:v>47.98090879</c:v>
                </c:pt>
                <c:pt idx="7">
                  <c:v>48.10297765</c:v>
                </c:pt>
                <c:pt idx="8">
                  <c:v>48.066770420000005</c:v>
                </c:pt>
                <c:pt idx="9">
                  <c:v>48.10297765</c:v>
                </c:pt>
                <c:pt idx="10">
                  <c:v>48.81634625</c:v>
                </c:pt>
                <c:pt idx="11">
                  <c:v>48.61445313</c:v>
                </c:pt>
                <c:pt idx="12">
                  <c:v>48.491241880000004</c:v>
                </c:pt>
                <c:pt idx="13">
                  <c:v>48.867389100000004</c:v>
                </c:pt>
                <c:pt idx="14">
                  <c:v>50.66970936</c:v>
                </c:pt>
                <c:pt idx="15">
                  <c:v>50.23997904</c:v>
                </c:pt>
                <c:pt idx="16">
                  <c:v>50.46760984</c:v>
                </c:pt>
                <c:pt idx="17">
                  <c:v>50.61550511</c:v>
                </c:pt>
                <c:pt idx="18">
                  <c:v>51.28099634</c:v>
                </c:pt>
                <c:pt idx="19">
                  <c:v>52.017524869999995</c:v>
                </c:pt>
                <c:pt idx="20">
                  <c:v>52.1125964</c:v>
                </c:pt>
                <c:pt idx="21">
                  <c:v>51.94869882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280"/>
                </a:solidFill>
                <a:latin typeface="Arial"/>
              </a:defRPr>
            </a:pPr>
            <a:endParaRPr lang="en-US"/>
          </a:p>
        </c:txPr>
        <c:crossAx val="2094734552"/>
        <c:crosses val="autoZero"/>
        <c:auto val="1"/>
        <c:lblAlgn val="ctr"/>
        <c:noMultiLvlLbl val="1"/>
      </c:catAx>
      <c:valAx>
        <c:axId val="2094734552"/>
        <c:scaling>
          <c:orientation val="minMax"/>
          <c:max val="54"/>
          <c:min val="40"/>
        </c:scaling>
        <c:delete val="0"/>
        <c:axPos val="l"/>
        <c:majorGridlines>
          <c:spPr>
            <a:ln w="6350" cap="flat">
              <a:solidFill>
                <a:srgbClr val="E8EC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554480"/>
            <a:ext cx="10515600" cy="640080"/>
          </a:xfrm>
          <a:prstGeom prst="rect">
            <a:avLst/>
          </a:prstGeom>
          <a:noFill/>
          <a:ln/>
        </p:spPr>
        <p:txBody>
          <a:bodyPr wrap="square" rtlCol="0" anchor="ctr"/>
          <a:lstStyle/>
          <a:p>
            <a:pPr indent="0" marL="0">
              <a:buNone/>
            </a:pPr>
            <a:r>
              <a:rPr lang="en-US" sz="2600" spc="400" kern="0" dirty="0">
                <a:solidFill>
                  <a:srgbClr val="CADCFC"/>
                </a:solidFill>
                <a:latin typeface="Cambria" pitchFamily="34" charset="0"/>
                <a:ea typeface="Cambria" pitchFamily="34" charset="-122"/>
                <a:cs typeface="Cambria" pitchFamily="34" charset="-120"/>
              </a:rPr>
              <a:t>OPAL ETFS</a:t>
            </a:r>
            <a:endParaRPr lang="en-US" sz="2600" dirty="0"/>
          </a:p>
        </p:txBody>
      </p:sp>
      <p:sp>
        <p:nvSpPr>
          <p:cNvPr id="3" name="Text 1"/>
          <p:cNvSpPr/>
          <p:nvPr/>
        </p:nvSpPr>
        <p:spPr>
          <a:xfrm>
            <a:off x="822960" y="2103120"/>
            <a:ext cx="105156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July 2026 Final Numbers</a:t>
            </a:r>
            <a:endParaRPr lang="en-US" sz="4800" dirty="0"/>
          </a:p>
        </p:txBody>
      </p:sp>
      <p:sp>
        <p:nvSpPr>
          <p:cNvPr id="4" name="Text 2"/>
          <p:cNvSpPr/>
          <p:nvPr/>
        </p:nvSpPr>
        <p:spPr>
          <a:xfrm>
            <a:off x="822960" y="3200400"/>
            <a:ext cx="9601200" cy="82296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49financial  ·  Cottonwood  ·  Inflection — full-month coverage, the Orion label finding quantified, and the decisions it leaves open</a:t>
            </a:r>
            <a:endParaRPr lang="en-US" sz="1800" dirty="0"/>
          </a:p>
        </p:txBody>
      </p:sp>
      <p:sp>
        <p:nvSpPr>
          <p:cNvPr id="5" name="Text 3"/>
          <p:cNvSpPr/>
          <p:nvPr/>
        </p:nvSpPr>
        <p:spPr>
          <a:xfrm>
            <a:off x="822960" y="6035040"/>
            <a:ext cx="10515600" cy="36576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Prepared 2026-08-03 · 1.0.0_SA_CTO · basis figures, not payments — no partner restatement has occurred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July 2026 rebate basis — the final numbers</a:t>
            </a:r>
            <a:endParaRPr lang="en-US" sz="3400" dirty="0"/>
          </a:p>
        </p:txBody>
      </p:sp>
      <p:sp>
        <p:nvSpPr>
          <p:cNvPr id="3" name="Text 1"/>
          <p:cNvSpPr/>
          <p:nvPr/>
        </p:nvSpPr>
        <p:spPr>
          <a:xfrm>
            <a:off x="640080" y="1051560"/>
            <a:ext cx="10058400" cy="365760"/>
          </a:xfrm>
          <a:prstGeom prst="rect">
            <a:avLst/>
          </a:prstGeom>
          <a:noFill/>
          <a:ln/>
        </p:spPr>
        <p:txBody>
          <a:bodyPr wrap="square" rtlCol="0" anchor="ctr"/>
          <a:lstStyle/>
          <a:p>
            <a:pPr indent="0" marL="0">
              <a:buNone/>
            </a:pPr>
            <a:r>
              <a:rPr lang="en-US" sz="1400" dirty="0">
                <a:solidFill>
                  <a:srgbClr val="5A6280"/>
                </a:solidFill>
                <a:latin typeface="Calibri" pitchFamily="34" charset="0"/>
                <a:ea typeface="Calibri" pitchFamily="34" charset="-122"/>
                <a:cs typeface="Calibri" pitchFamily="34" charset="-120"/>
              </a:rPr>
              <a:t>Simple mean over 22 July trading days, from the corrected daily store (verified 2026-08-03).</a:t>
            </a:r>
            <a:endParaRPr lang="en-US" sz="1400" dirty="0"/>
          </a:p>
        </p:txBody>
      </p:sp>
      <p:sp>
        <p:nvSpPr>
          <p:cNvPr id="4" name="Shape 2"/>
          <p:cNvSpPr/>
          <p:nvPr/>
        </p:nvSpPr>
        <p:spPr>
          <a:xfrm>
            <a:off x="640080" y="1691640"/>
            <a:ext cx="3520440" cy="2286000"/>
          </a:xfrm>
          <a:prstGeom prst="roundRect">
            <a:avLst>
              <a:gd name="adj" fmla="val 3200"/>
            </a:avLst>
          </a:prstGeom>
          <a:solidFill>
            <a:srgbClr val="F4F6FC"/>
          </a:solidFill>
          <a:ln w="12700">
            <a:solidFill>
              <a:srgbClr val="CADCFC"/>
            </a:solidFill>
            <a:prstDash val="solid"/>
          </a:ln>
        </p:spPr>
      </p:sp>
      <p:sp>
        <p:nvSpPr>
          <p:cNvPr id="5" name="Text 3"/>
          <p:cNvSpPr/>
          <p:nvPr/>
        </p:nvSpPr>
        <p:spPr>
          <a:xfrm>
            <a:off x="868680" y="1874520"/>
            <a:ext cx="31089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49financial</a:t>
            </a:r>
            <a:endParaRPr lang="en-US" sz="1600" dirty="0"/>
          </a:p>
        </p:txBody>
      </p:sp>
      <p:sp>
        <p:nvSpPr>
          <p:cNvPr id="6" name="Text 4"/>
          <p:cNvSpPr/>
          <p:nvPr/>
        </p:nvSpPr>
        <p:spPr>
          <a:xfrm>
            <a:off x="868680" y="2286000"/>
            <a:ext cx="3108960" cy="868680"/>
          </a:xfrm>
          <a:prstGeom prst="rect">
            <a:avLst/>
          </a:prstGeom>
          <a:noFill/>
          <a:ln/>
        </p:spPr>
        <p:txBody>
          <a:bodyPr wrap="square" lIns="0" tIns="0" rIns="0" bIns="0" rtlCol="0" anchor="ctr"/>
          <a:lstStyle/>
          <a:p>
            <a:pPr indent="0" marL="0">
              <a:buNone/>
            </a:pPr>
            <a:r>
              <a:rPr lang="en-US" sz="5200" b="1" dirty="0">
                <a:solidFill>
                  <a:srgbClr val="1A1A2E"/>
                </a:solidFill>
                <a:latin typeface="Cambria" pitchFamily="34" charset="0"/>
                <a:ea typeface="Cambria" pitchFamily="34" charset="-122"/>
                <a:cs typeface="Cambria" pitchFamily="34" charset="-120"/>
              </a:rPr>
              <a:t>$528.4M</a:t>
            </a:r>
            <a:endParaRPr lang="en-US" sz="5200" dirty="0"/>
          </a:p>
        </p:txBody>
      </p:sp>
      <p:sp>
        <p:nvSpPr>
          <p:cNvPr id="7" name="Text 5"/>
          <p:cNvSpPr/>
          <p:nvPr/>
        </p:nvSpPr>
        <p:spPr>
          <a:xfrm>
            <a:off x="868680" y="3154680"/>
            <a:ext cx="3108960" cy="320040"/>
          </a:xfrm>
          <a:prstGeom prst="rect">
            <a:avLst/>
          </a:prstGeom>
          <a:noFill/>
          <a:ln/>
        </p:spPr>
        <p:txBody>
          <a:bodyPr wrap="square" lIns="0" tIns="0" rIns="0" bIns="0" rtlCol="0" anchor="ctr"/>
          <a:lstStyle/>
          <a:p>
            <a:pPr indent="0" marL="0">
              <a:buNone/>
            </a:pPr>
            <a:r>
              <a:rPr lang="en-US" sz="1300" dirty="0">
                <a:solidFill>
                  <a:srgbClr val="5A6280"/>
                </a:solidFill>
                <a:latin typeface="Calibri" pitchFamily="34" charset="0"/>
                <a:ea typeface="Calibri" pitchFamily="34" charset="-122"/>
                <a:cs typeface="Calibri" pitchFamily="34" charset="-120"/>
              </a:rPr>
              <a:t>$528,375,243.69</a:t>
            </a:r>
            <a:endParaRPr lang="en-US" sz="1300" dirty="0"/>
          </a:p>
        </p:txBody>
      </p:sp>
      <p:sp>
        <p:nvSpPr>
          <p:cNvPr id="8" name="Text 6"/>
          <p:cNvSpPr/>
          <p:nvPr/>
        </p:nvSpPr>
        <p:spPr>
          <a:xfrm>
            <a:off x="868680" y="3493008"/>
            <a:ext cx="3108960" cy="457200"/>
          </a:xfrm>
          <a:prstGeom prst="rect">
            <a:avLst/>
          </a:prstGeom>
          <a:noFill/>
          <a:ln/>
        </p:spPr>
        <p:txBody>
          <a:bodyPr wrap="square" lIns="0" tIns="0" rIns="0" bIns="0" rtlCol="0" anchor="ctr"/>
          <a:lstStyle/>
          <a:p>
            <a:pPr indent="0" marL="0">
              <a:buNone/>
            </a:pPr>
            <a:r>
              <a:rPr lang="en-US" sz="1050" i="1" dirty="0">
                <a:solidFill>
                  <a:srgbClr val="5A6280"/>
                </a:solidFill>
                <a:latin typeface="Calibri" pitchFamily="34" charset="0"/>
                <a:ea typeface="Calibri" pitchFamily="34" charset="-122"/>
                <a:cs typeface="Calibri" pitchFamily="34" charset="-120"/>
              </a:rPr>
              <a:t>Schwab basis · settled-date labels · delivered CSV was exact</a:t>
            </a:r>
            <a:endParaRPr lang="en-US" sz="1050" dirty="0"/>
          </a:p>
        </p:txBody>
      </p:sp>
      <p:sp>
        <p:nvSpPr>
          <p:cNvPr id="9" name="Shape 7"/>
          <p:cNvSpPr/>
          <p:nvPr/>
        </p:nvSpPr>
        <p:spPr>
          <a:xfrm>
            <a:off x="4434840" y="1691640"/>
            <a:ext cx="3520440" cy="2286000"/>
          </a:xfrm>
          <a:prstGeom prst="roundRect">
            <a:avLst>
              <a:gd name="adj" fmla="val 3200"/>
            </a:avLst>
          </a:prstGeom>
          <a:solidFill>
            <a:srgbClr val="F4F6FC"/>
          </a:solidFill>
          <a:ln w="12700">
            <a:solidFill>
              <a:srgbClr val="CADCFC"/>
            </a:solidFill>
            <a:prstDash val="solid"/>
          </a:ln>
        </p:spPr>
      </p:sp>
      <p:sp>
        <p:nvSpPr>
          <p:cNvPr id="10" name="Text 8"/>
          <p:cNvSpPr/>
          <p:nvPr/>
        </p:nvSpPr>
        <p:spPr>
          <a:xfrm>
            <a:off x="4663440" y="1874520"/>
            <a:ext cx="31089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Cottonwood</a:t>
            </a:r>
            <a:endParaRPr lang="en-US" sz="1600" dirty="0"/>
          </a:p>
        </p:txBody>
      </p:sp>
      <p:sp>
        <p:nvSpPr>
          <p:cNvPr id="11" name="Text 9"/>
          <p:cNvSpPr/>
          <p:nvPr/>
        </p:nvSpPr>
        <p:spPr>
          <a:xfrm>
            <a:off x="4663440" y="2286000"/>
            <a:ext cx="3108960" cy="868680"/>
          </a:xfrm>
          <a:prstGeom prst="rect">
            <a:avLst/>
          </a:prstGeom>
          <a:noFill/>
          <a:ln/>
        </p:spPr>
        <p:txBody>
          <a:bodyPr wrap="square" lIns="0" tIns="0" rIns="0" bIns="0" rtlCol="0" anchor="ctr"/>
          <a:lstStyle/>
          <a:p>
            <a:pPr indent="0" marL="0">
              <a:buNone/>
            </a:pPr>
            <a:r>
              <a:rPr lang="en-US" sz="5200" b="1" dirty="0">
                <a:solidFill>
                  <a:srgbClr val="1A1A2E"/>
                </a:solidFill>
                <a:latin typeface="Cambria" pitchFamily="34" charset="0"/>
                <a:ea typeface="Cambria" pitchFamily="34" charset="-122"/>
                <a:cs typeface="Cambria" pitchFamily="34" charset="-120"/>
              </a:rPr>
              <a:t>$33.9M</a:t>
            </a:r>
            <a:endParaRPr lang="en-US" sz="5200" dirty="0"/>
          </a:p>
        </p:txBody>
      </p:sp>
      <p:sp>
        <p:nvSpPr>
          <p:cNvPr id="12" name="Text 10"/>
          <p:cNvSpPr/>
          <p:nvPr/>
        </p:nvSpPr>
        <p:spPr>
          <a:xfrm>
            <a:off x="4663440" y="3154680"/>
            <a:ext cx="3108960" cy="320040"/>
          </a:xfrm>
          <a:prstGeom prst="rect">
            <a:avLst/>
          </a:prstGeom>
          <a:noFill/>
          <a:ln/>
        </p:spPr>
        <p:txBody>
          <a:bodyPr wrap="square" lIns="0" tIns="0" rIns="0" bIns="0" rtlCol="0" anchor="ctr"/>
          <a:lstStyle/>
          <a:p>
            <a:pPr indent="0" marL="0">
              <a:buNone/>
            </a:pPr>
            <a:r>
              <a:rPr lang="en-US" sz="1300" dirty="0">
                <a:solidFill>
                  <a:srgbClr val="5A6280"/>
                </a:solidFill>
                <a:latin typeface="Calibri" pitchFamily="34" charset="0"/>
                <a:ea typeface="Calibri" pitchFamily="34" charset="-122"/>
                <a:cs typeface="Calibri" pitchFamily="34" charset="-120"/>
              </a:rPr>
              <a:t>$33,861,836.15</a:t>
            </a:r>
            <a:endParaRPr lang="en-US" sz="1300" dirty="0"/>
          </a:p>
        </p:txBody>
      </p:sp>
      <p:sp>
        <p:nvSpPr>
          <p:cNvPr id="13" name="Text 11"/>
          <p:cNvSpPr/>
          <p:nvPr/>
        </p:nvSpPr>
        <p:spPr>
          <a:xfrm>
            <a:off x="4663440" y="3493008"/>
            <a:ext cx="3108960" cy="457200"/>
          </a:xfrm>
          <a:prstGeom prst="rect">
            <a:avLst/>
          </a:prstGeom>
          <a:noFill/>
          <a:ln/>
        </p:spPr>
        <p:txBody>
          <a:bodyPr wrap="square" lIns="0" tIns="0" rIns="0" bIns="0" rtlCol="0" anchor="ctr"/>
          <a:lstStyle/>
          <a:p>
            <a:pPr indent="0" marL="0">
              <a:buNone/>
            </a:pPr>
            <a:r>
              <a:rPr lang="en-US" sz="1050" i="1" dirty="0">
                <a:solidFill>
                  <a:srgbClr val="5A6280"/>
                </a:solidFill>
                <a:latin typeface="Calibri" pitchFamily="34" charset="0"/>
                <a:ea typeface="Calibri" pitchFamily="34" charset="-122"/>
                <a:cs typeface="Calibri" pitchFamily="34" charset="-120"/>
              </a:rPr>
              <a:t>Black Diamond basis · onboarding ramp $2.2M -&gt; $50M in July</a:t>
            </a:r>
            <a:endParaRPr lang="en-US" sz="1050" dirty="0"/>
          </a:p>
        </p:txBody>
      </p:sp>
      <p:sp>
        <p:nvSpPr>
          <p:cNvPr id="14" name="Shape 12"/>
          <p:cNvSpPr/>
          <p:nvPr/>
        </p:nvSpPr>
        <p:spPr>
          <a:xfrm>
            <a:off x="8229600" y="1691640"/>
            <a:ext cx="3520440" cy="2286000"/>
          </a:xfrm>
          <a:prstGeom prst="roundRect">
            <a:avLst>
              <a:gd name="adj" fmla="val 3200"/>
            </a:avLst>
          </a:prstGeom>
          <a:solidFill>
            <a:srgbClr val="F4F6FC"/>
          </a:solidFill>
          <a:ln w="12700">
            <a:solidFill>
              <a:srgbClr val="CADCFC"/>
            </a:solidFill>
            <a:prstDash val="solid"/>
          </a:ln>
        </p:spPr>
      </p:sp>
      <p:sp>
        <p:nvSpPr>
          <p:cNvPr id="15" name="Text 13"/>
          <p:cNvSpPr/>
          <p:nvPr/>
        </p:nvSpPr>
        <p:spPr>
          <a:xfrm>
            <a:off x="8458200" y="1874520"/>
            <a:ext cx="31089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Inflection</a:t>
            </a:r>
            <a:endParaRPr lang="en-US" sz="1600" dirty="0"/>
          </a:p>
        </p:txBody>
      </p:sp>
      <p:sp>
        <p:nvSpPr>
          <p:cNvPr id="16" name="Text 14"/>
          <p:cNvSpPr/>
          <p:nvPr/>
        </p:nvSpPr>
        <p:spPr>
          <a:xfrm>
            <a:off x="8458200" y="2286000"/>
            <a:ext cx="3108960" cy="868680"/>
          </a:xfrm>
          <a:prstGeom prst="rect">
            <a:avLst/>
          </a:prstGeom>
          <a:noFill/>
          <a:ln/>
        </p:spPr>
        <p:txBody>
          <a:bodyPr wrap="square" lIns="0" tIns="0" rIns="0" bIns="0" rtlCol="0" anchor="ctr"/>
          <a:lstStyle/>
          <a:p>
            <a:pPr indent="0" marL="0">
              <a:buNone/>
            </a:pPr>
            <a:r>
              <a:rPr lang="en-US" sz="5200" b="1" dirty="0">
                <a:solidFill>
                  <a:srgbClr val="1A1A2E"/>
                </a:solidFill>
                <a:latin typeface="Cambria" pitchFamily="34" charset="0"/>
                <a:ea typeface="Cambria" pitchFamily="34" charset="-122"/>
                <a:cs typeface="Cambria" pitchFamily="34" charset="-120"/>
              </a:rPr>
              <a:t>$47.6M</a:t>
            </a:r>
            <a:endParaRPr lang="en-US" sz="5200" dirty="0"/>
          </a:p>
        </p:txBody>
      </p:sp>
      <p:sp>
        <p:nvSpPr>
          <p:cNvPr id="17" name="Text 15"/>
          <p:cNvSpPr/>
          <p:nvPr/>
        </p:nvSpPr>
        <p:spPr>
          <a:xfrm>
            <a:off x="8458200" y="3154680"/>
            <a:ext cx="3108960" cy="320040"/>
          </a:xfrm>
          <a:prstGeom prst="rect">
            <a:avLst/>
          </a:prstGeom>
          <a:noFill/>
          <a:ln/>
        </p:spPr>
        <p:txBody>
          <a:bodyPr wrap="square" lIns="0" tIns="0" rIns="0" bIns="0" rtlCol="0" anchor="ctr"/>
          <a:lstStyle/>
          <a:p>
            <a:pPr indent="0" marL="0">
              <a:buNone/>
            </a:pPr>
            <a:r>
              <a:rPr lang="en-US" sz="1300" dirty="0">
                <a:solidFill>
                  <a:srgbClr val="5A6280"/>
                </a:solidFill>
                <a:latin typeface="Calibri" pitchFamily="34" charset="0"/>
                <a:ea typeface="Calibri" pitchFamily="34" charset="-122"/>
                <a:cs typeface="Calibri" pitchFamily="34" charset="-120"/>
              </a:rPr>
              <a:t>$47,608,356.91</a:t>
            </a:r>
            <a:endParaRPr lang="en-US" sz="1300" dirty="0"/>
          </a:p>
        </p:txBody>
      </p:sp>
      <p:sp>
        <p:nvSpPr>
          <p:cNvPr id="18" name="Text 16"/>
          <p:cNvSpPr/>
          <p:nvPr/>
        </p:nvSpPr>
        <p:spPr>
          <a:xfrm>
            <a:off x="8458200" y="3493008"/>
            <a:ext cx="3108960" cy="457200"/>
          </a:xfrm>
          <a:prstGeom prst="rect">
            <a:avLst/>
          </a:prstGeom>
          <a:noFill/>
          <a:ln/>
        </p:spPr>
        <p:txBody>
          <a:bodyPr wrap="square" lIns="0" tIns="0" rIns="0" bIns="0" rtlCol="0" anchor="ctr"/>
          <a:lstStyle/>
          <a:p>
            <a:pPr indent="0" marL="0">
              <a:buNone/>
            </a:pPr>
            <a:r>
              <a:rPr lang="en-US" sz="1050" i="1" dirty="0">
                <a:solidFill>
                  <a:srgbClr val="5A6280"/>
                </a:solidFill>
                <a:latin typeface="Calibri" pitchFamily="34" charset="0"/>
                <a:ea typeface="Calibri" pitchFamily="34" charset="-122"/>
                <a:cs typeface="Calibri" pitchFamily="34" charset="-120"/>
              </a:rPr>
              <a:t>Orion basis · published (forward) labels · see label finding</a:t>
            </a:r>
            <a:endParaRPr lang="en-US" sz="1050" dirty="0"/>
          </a:p>
        </p:txBody>
      </p:sp>
      <p:sp>
        <p:nvSpPr>
          <p:cNvPr id="19" name="Shape 17"/>
          <p:cNvSpPr/>
          <p:nvPr/>
        </p:nvSpPr>
        <p:spPr>
          <a:xfrm>
            <a:off x="640080" y="4343400"/>
            <a:ext cx="10972800" cy="960120"/>
          </a:xfrm>
          <a:prstGeom prst="roundRect">
            <a:avLst>
              <a:gd name="adj" fmla="val 7619"/>
            </a:avLst>
          </a:prstGeom>
          <a:solidFill>
            <a:srgbClr val="1E2761"/>
          </a:solidFill>
          <a:ln/>
        </p:spPr>
      </p:sp>
      <p:sp>
        <p:nvSpPr>
          <p:cNvPr id="20" name="Text 18"/>
          <p:cNvSpPr/>
          <p:nvPr/>
        </p:nvSpPr>
        <p:spPr>
          <a:xfrm>
            <a:off x="914400" y="4526280"/>
            <a:ext cx="10515600" cy="5943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COMBINED BASIS  </a:t>
            </a:r>
            <a:pPr indent="0" marL="0">
              <a:buNone/>
            </a:pPr>
            <a:r>
              <a:rPr lang="en-US" sz="2600" b="1" dirty="0">
                <a:solidFill>
                  <a:srgbClr val="FFFFFF"/>
                </a:solidFill>
                <a:latin typeface="Calibri" pitchFamily="34" charset="0"/>
                <a:ea typeface="Calibri" pitchFamily="34" charset="-122"/>
                <a:cs typeface="Calibri" pitchFamily="34" charset="-120"/>
              </a:rPr>
              <a:t>$609,845,436.75</a:t>
            </a:r>
            <a:pPr indent="0" marL="0">
              <a:buNone/>
            </a:pPr>
            <a:r>
              <a:rPr lang="en-US" sz="1300" dirty="0">
                <a:solidFill>
                  <a:srgbClr val="CADCFC"/>
                </a:solidFill>
                <a:latin typeface="Calibri" pitchFamily="34" charset="0"/>
                <a:ea typeface="Calibri" pitchFamily="34" charset="-122"/>
                <a:cs typeface="Calibri" pitchFamily="34" charset="-120"/>
              </a:rPr>
              <a:t>   across DIVZ · IDVZ · PFDE · PFOE  (49F + Cottonwood + Inflection, published labels)</a:t>
            </a:r>
            <a:endParaRPr lang="en-US" sz="1600" dirty="0"/>
          </a:p>
        </p:txBody>
      </p:sp>
      <p:sp>
        <p:nvSpPr>
          <p:cNvPr id="21" name="Text 19"/>
          <p:cNvSpPr/>
          <p:nvPr/>
        </p:nvSpPr>
        <p:spPr>
          <a:xfrm>
            <a:off x="640080" y="5623560"/>
            <a:ext cx="10972800" cy="548640"/>
          </a:xfrm>
          <a:prstGeom prst="rect">
            <a:avLst/>
          </a:prstGeom>
          <a:noFill/>
          <a:ln/>
        </p:spPr>
        <p:txBody>
          <a:bodyPr wrap="square" rtlCol="0" anchor="ctr"/>
          <a:lstStyle/>
          <a:p>
            <a:pPr indent="0" marL="0">
              <a:buNone/>
            </a:pPr>
            <a:r>
              <a:rPr lang="en-US" sz="1200" i="1" dirty="0">
                <a:solidFill>
                  <a:srgbClr val="C9A227"/>
                </a:solidFill>
                <a:latin typeface="Calibri" pitchFamily="34" charset="0"/>
                <a:ea typeface="Calibri" pitchFamily="34" charset="-122"/>
                <a:cs typeface="Calibri" pitchFamily="34" charset="-120"/>
              </a:rPr>
              <a:t>Caveat: “simple mean over trading days” is the assumed AVGCAP aggregation — unconfirmed against the production formula. Confirm before any figure reaches a partner.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Did we get full July for all three? Yes — with post-delivery corrections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972800" cy="914400"/>
        </p:xfrm>
        <a:graphic>
          <a:graphicData uri="http://schemas.openxmlformats.org/drawingml/2006/table">
            <a:tbl>
              <a:tblPr/>
              <a:tblGrid>
                <a:gridCol w="2194560"/>
                <a:gridCol w="2377440"/>
                <a:gridCol w="640080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Partner</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Store coverage today</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Aug-1 delivered CSV vs corrected store</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1E2761"/>
                    </a:solidFill>
                  </a:tcPr>
                </a:tc>
              </a:tr>
              <a:tr h="502920">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49financial</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22/22 trading days</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EXACT — zero deltas on any trading day</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r>
              <a:tr h="502920">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Cottonwood</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22/22 trading days</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2 days stale: 07-20 pre-correction (total 48.39M -&gt; 50.29M after repoint), 07-31 carried (real value landed 08-03)</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r>
              <a:tr h="502920">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Inflection</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22/22 trading days</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300" dirty="0">
                          <a:solidFill>
                            <a:srgbClr val="1A1A2E"/>
                          </a:solidFill>
                          <a:latin typeface="Calibri" pitchFamily="34" charset="0"/>
                          <a:ea typeface="Calibri" pitchFamily="34" charset="-122"/>
                          <a:cs typeface="Calibri" pitchFamily="34" charset="-120"/>
                        </a:rPr>
                        <a:t>7 weekdays stale: 07-01, 07-13/14/15, 07-21/22/23 — real dailies backfilled 08-01 14:10Z, four hours AFTER the 10:00Z report fire</a:t>
                      </a:r>
                      <a:endParaRPr lang="en-US" sz="13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r>
            </a:tbl>
          </a:graphicData>
        </a:graphic>
      </p:graphicFrame>
      <p:sp>
        <p:nvSpPr>
          <p:cNvPr id="4" name="Text 1"/>
          <p:cNvSpPr/>
          <p:nvPr/>
        </p:nvSpPr>
        <p:spPr>
          <a:xfrm>
            <a:off x="640080" y="3977640"/>
            <a:ext cx="10972800" cy="13716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What this means: </a:t>
            </a:r>
            <a:pPr indent="0" marL="0">
              <a:buNone/>
            </a:pPr>
            <a:r>
              <a:rPr lang="en-US" sz="1400" dirty="0">
                <a:solidFill>
                  <a:srgbClr val="1A1A2E"/>
                </a:solidFill>
                <a:latin typeface="Calibri" pitchFamily="34" charset="0"/>
                <a:ea typeface="Calibri" pitchFamily="34" charset="-122"/>
                <a:cs typeface="Calibri" pitchFamily="34" charset="-120"/>
              </a:rPr>
              <a:t>the numbers on the previous slide are computed from today's corrected store and are the authoritative July set. The CSVs emailed on Aug-1 were built before the inflection backfill and the cottonwood repoint landed — on the assumed trading-day mean they understate inflection by ~$622K and cottonwood by ~$79K. This is the partial-flag defect live: the report shipped calendar-complete with carried weekdays and partial=false.</a:t>
            </a:r>
            <a:endParaRPr lang="en-US" sz="1400" dirty="0"/>
          </a:p>
        </p:txBody>
      </p:sp>
      <p:sp>
        <p:nvSpPr>
          <p:cNvPr id="5" name="Text 2"/>
          <p:cNvSpPr/>
          <p:nvPr/>
        </p:nvSpPr>
        <p:spPr>
          <a:xfrm>
            <a:off x="640080" y="5486400"/>
            <a:ext cx="10972800" cy="365760"/>
          </a:xfrm>
          <a:prstGeom prst="rect">
            <a:avLst/>
          </a:prstGeom>
          <a:noFill/>
          <a:ln/>
        </p:spPr>
        <p:txBody>
          <a:bodyPr wrap="square" rtlCol="0" anchor="ctr"/>
          <a:lstStyle/>
          <a:p>
            <a:pPr indent="0" marL="0">
              <a:buNone/>
            </a:pPr>
            <a:r>
              <a:rPr lang="en-US" sz="1200" i="1" dirty="0">
                <a:solidFill>
                  <a:srgbClr val="5A6280"/>
                </a:solidFill>
                <a:latin typeface="Calibri" pitchFamily="34" charset="0"/>
                <a:ea typeface="Calibri" pitchFamily="34" charset="-122"/>
                <a:cs typeface="Calibri" pitchFamily="34" charset="-120"/>
              </a:rPr>
              <a:t>Fix on record (still open, DS-owned, CTO gate): grade written vs carried days and re-key the partial flag to WRITTEN coverage.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Orion label finding — mechanism confirmed, delta quantified</a:t>
            </a:r>
            <a:endParaRPr lang="en-US" sz="3000" dirty="0"/>
          </a:p>
        </p:txBody>
      </p:sp>
      <p:sp>
        <p:nvSpPr>
          <p:cNvPr id="3" name="Text 1"/>
          <p:cNvSpPr/>
          <p:nvPr/>
        </p:nvSpPr>
        <p:spPr>
          <a:xfrm>
            <a:off x="640080" y="1143000"/>
            <a:ext cx="5577840" cy="2377440"/>
          </a:xfrm>
          <a:prstGeom prst="rect">
            <a:avLst/>
          </a:prstGeom>
          <a:noFill/>
          <a:ln/>
        </p:spPr>
        <p:txBody>
          <a:bodyPr wrap="square"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Mechanism (sealed in estate code since 07-02): </a:t>
            </a:r>
            <a:pPr indent="0" marL="0">
              <a:buNone/>
            </a:pPr>
            <a:r>
              <a:rPr lang="en-US" sz="1350" dirty="0">
                <a:solidFill>
                  <a:srgbClr val="1A1A2E"/>
                </a:solidFill>
                <a:latin typeface="Calibri" pitchFamily="34" charset="0"/>
                <a:ea typeface="Calibri" pitchFamily="34" charset="-122"/>
                <a:cs typeface="Calibri" pitchFamily="34" charset="-120"/>
              </a:rPr>
              <a:t>Orion returns the latest SETTLED close — the prior trading day — while stamping asOfDate with the run date. The gold/portal chain corrects this (orion_normalize_as_of); the ETFS rebate chain never called it. Every inflection daily is labeled one NYSE trading day forward. Oracle-tested with a discriminating control (07-18 &amp; 07-20 collapse to identical 07-17 values; control 07-14/07-16 map to different days).</a:t>
            </a:r>
            <a:endParaRPr lang="en-US" sz="1350" dirty="0"/>
          </a:p>
        </p:txBody>
      </p:sp>
      <p:sp>
        <p:nvSpPr>
          <p:cNvPr id="4" name="Shape 2"/>
          <p:cNvSpPr/>
          <p:nvPr/>
        </p:nvSpPr>
        <p:spPr>
          <a:xfrm>
            <a:off x="640080" y="3657600"/>
            <a:ext cx="5577840" cy="2194560"/>
          </a:xfrm>
          <a:prstGeom prst="roundRect">
            <a:avLst>
              <a:gd name="adj" fmla="val 3333"/>
            </a:avLst>
          </a:prstGeom>
          <a:solidFill>
            <a:srgbClr val="F4F6FC"/>
          </a:solidFill>
          <a:ln w="12700">
            <a:solidFill>
              <a:srgbClr val="CADCFC"/>
            </a:solidFill>
            <a:prstDash val="solid"/>
          </a:ln>
        </p:spPr>
      </p:sp>
      <p:sp>
        <p:nvSpPr>
          <p:cNvPr id="5" name="Text 3"/>
          <p:cNvSpPr/>
          <p:nvPr/>
        </p:nvSpPr>
        <p:spPr>
          <a:xfrm>
            <a:off x="914400" y="3886200"/>
            <a:ext cx="5120640" cy="365760"/>
          </a:xfrm>
          <a:prstGeom prst="rect">
            <a:avLst/>
          </a:prstGeom>
          <a:noFill/>
          <a:ln/>
        </p:spPr>
        <p:txBody>
          <a:bodyPr wrap="square" lIns="0" tIns="0" rIns="0" bIns="0" rtlCol="0" anchor="ctr"/>
          <a:lstStyle/>
          <a:p>
            <a:pPr indent="0" marL="0">
              <a:buNone/>
            </a:pPr>
            <a:r>
              <a:rPr lang="en-US" sz="1300" dirty="0">
                <a:solidFill>
                  <a:srgbClr val="5A6280"/>
                </a:solidFill>
                <a:latin typeface="Calibri" pitchFamily="34" charset="0"/>
                <a:ea typeface="Calibri" pitchFamily="34" charset="-122"/>
                <a:cs typeface="Calibri" pitchFamily="34" charset="-120"/>
              </a:rPr>
              <a:t>Re-labeled to true settled dates, July is understated by</a:t>
            </a:r>
            <a:endParaRPr lang="en-US" sz="1300" dirty="0"/>
          </a:p>
        </p:txBody>
      </p:sp>
      <p:sp>
        <p:nvSpPr>
          <p:cNvPr id="6" name="Text 4"/>
          <p:cNvSpPr/>
          <p:nvPr/>
        </p:nvSpPr>
        <p:spPr>
          <a:xfrm>
            <a:off x="914400" y="4206240"/>
            <a:ext cx="5120640" cy="77724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+$424,062.91</a:t>
            </a:r>
            <a:endParaRPr lang="en-US" sz="4400" dirty="0"/>
          </a:p>
        </p:txBody>
      </p:sp>
      <p:sp>
        <p:nvSpPr>
          <p:cNvPr id="7" name="Text 5"/>
          <p:cNvSpPr/>
          <p:nvPr/>
        </p:nvSpPr>
        <p:spPr>
          <a:xfrm>
            <a:off x="914400" y="5029200"/>
            <a:ext cx="512064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0.891% of the published $47.61M basis  ·  DIVZ +159.3K · IDVZ +122.5K · PFDE +94.2K · PFOE +48.0K</a:t>
            </a:r>
            <a:endParaRPr lang="en-US" sz="1200" dirty="0"/>
          </a:p>
        </p:txBody>
      </p:sp>
      <p:sp>
        <p:nvSpPr>
          <p:cNvPr id="8" name="Text 6"/>
          <p:cNvSpPr/>
          <p:nvPr/>
        </p:nvSpPr>
        <p:spPr>
          <a:xfrm>
            <a:off x="914400" y="5394960"/>
            <a:ext cx="5120640" cy="365760"/>
          </a:xfrm>
          <a:prstGeom prst="rect">
            <a:avLst/>
          </a:prstGeom>
          <a:noFill/>
          <a:ln/>
        </p:spPr>
        <p:txBody>
          <a:bodyPr wrap="square" lIns="0" tIns="0" rIns="0" bIns="0" rtlCol="0" anchor="ctr"/>
          <a:lstStyle/>
          <a:p>
            <a:pPr indent="0" marL="0">
              <a:buNone/>
            </a:pPr>
            <a:r>
              <a:rPr lang="en-US" sz="1100" i="1" dirty="0">
                <a:solidFill>
                  <a:srgbClr val="5A6280"/>
                </a:solidFill>
                <a:latin typeface="Calibri" pitchFamily="34" charset="0"/>
                <a:ea typeface="Calibri" pitchFamily="34" charset="-122"/>
                <a:cs typeface="Calibri" pitchFamily="34" charset="-120"/>
              </a:rPr>
              <a:t>True-settled July spans 06-30 -&gt; 07-30; true 07-31 lands in the August file.</a:t>
            </a:r>
            <a:endParaRPr lang="en-US" sz="1100" dirty="0"/>
          </a:p>
        </p:txBody>
      </p:sp>
      <p:graphicFrame>
        <p:nvGraphicFramePr>
          <p:cNvPr id="9" name="Chart 0" descr=""/>
          <p:cNvGraphicFramePr/>
          <p:nvPr/>
        </p:nvGraphicFramePr>
        <p:xfrm>
          <a:off x="6492240" y="1188720"/>
          <a:ext cx="5120640"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defect that matters more than the offset</a:t>
            </a:r>
            <a:endParaRPr lang="en-US" sz="3200" dirty="0"/>
          </a:p>
        </p:txBody>
      </p:sp>
      <p:sp>
        <p:nvSpPr>
          <p:cNvPr id="3" name="Text 1"/>
          <p:cNvSpPr/>
          <p:nvPr/>
        </p:nvSpPr>
        <p:spPr>
          <a:xfrm>
            <a:off x="640080" y="1097280"/>
            <a:ext cx="10972800" cy="457200"/>
          </a:xfrm>
          <a:prstGeom prst="rect">
            <a:avLst/>
          </a:prstGeom>
          <a:noFill/>
          <a:ln/>
        </p:spPr>
        <p:txBody>
          <a:bodyPr wrap="square" rtlCol="0" anchor="ctr"/>
          <a:lstStyle/>
          <a:p>
            <a:pPr indent="0" marL="0">
              <a:buNone/>
            </a:pPr>
            <a:r>
              <a:rPr lang="en-US" sz="1800" i="1" dirty="0">
                <a:solidFill>
                  <a:srgbClr val="C9A227"/>
                </a:solidFill>
                <a:latin typeface="Calibri" pitchFamily="34" charset="0"/>
                <a:ea typeface="Calibri" pitchFamily="34" charset="-122"/>
                <a:cs typeface="Calibri" pitchFamily="34" charset="-120"/>
              </a:rPr>
              <a:t>One rebate file. Two date bases.</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72800" cy="914400"/>
        </p:xfrm>
        <a:graphic>
          <a:graphicData uri="http://schemas.openxmlformats.org/drawingml/2006/table">
            <a:tbl>
              <a:tblPr/>
              <a:tblGrid>
                <a:gridCol w="2194560"/>
                <a:gridCol w="2011680"/>
                <a:gridCol w="67665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Partner</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Feed</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 row labeled 07-24 contains…</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1E2761"/>
                    </a:solidFill>
                  </a:tcPr>
                </a:tc>
              </a:tr>
              <a:tr h="457200">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49financial</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Schwab</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07-24's settled book  (accurate label — do NOT normalize)</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r>
              <a:tr h="457200">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Cottonwood</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Black Diamond</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07-24's settled book  (accurate label — do NOT normalize)</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r>
              <a:tr h="457200">
                <a:tc>
                  <a:txBody>
                    <a:bodyPr/>
                    <a:lstStyle/>
                    <a:p>
                      <a:pPr indent="0" marL="0">
                        <a:buNone/>
                      </a:pPr>
                      <a:r>
                        <a:rPr lang="en-US" sz="1400" b="1" dirty="0">
                          <a:solidFill>
                            <a:srgbClr val="1A1A2E"/>
                          </a:solidFill>
                          <a:latin typeface="Calibri" pitchFamily="34" charset="0"/>
                          <a:ea typeface="Calibri" pitchFamily="34" charset="-122"/>
                          <a:cs typeface="Calibri" pitchFamily="34" charset="-120"/>
                        </a:rPr>
                        <a:t>Inflection</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400" dirty="0">
                          <a:solidFill>
                            <a:srgbClr val="1A1A2E"/>
                          </a:solidFill>
                          <a:latin typeface="Calibri" pitchFamily="34" charset="0"/>
                          <a:ea typeface="Calibri" pitchFamily="34" charset="-122"/>
                          <a:cs typeface="Calibri" pitchFamily="34" charset="-120"/>
                        </a:rPr>
                        <a:t>Orion</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c>
                  <a:txBody>
                    <a:bodyPr/>
                    <a:lstStyle/>
                    <a:p>
                      <a:pPr indent="0" marL="0">
                        <a:buNone/>
                      </a:pPr>
                      <a:r>
                        <a:rPr lang="en-US" sz="1400" b="1" dirty="0">
                          <a:solidFill>
                            <a:srgbClr val="9A3324"/>
                          </a:solidFill>
                          <a:latin typeface="Calibri" pitchFamily="34" charset="0"/>
                          <a:ea typeface="Calibri" pitchFamily="34" charset="-122"/>
                          <a:cs typeface="Calibri" pitchFamily="34" charset="-120"/>
                        </a:rPr>
                        <a:t>07-23's settled book  (forward label — the only feed that mislabels)</a:t>
                      </a:r>
                      <a:endParaRPr lang="en-US" sz="1400" dirty="0">
                        <a:latin typeface="Calibri" charset="0"/>
                        <a:ea typeface="Calibri" charset="0"/>
                        <a:cs typeface="Calibri" charset="0"/>
                      </a:endParaRPr>
                    </a:p>
                  </a:txBody>
                  <a:tcPr marL="91440" marR="91440" marT="45720" marB="45720" anchor="ctr">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tcPr>
                </a:tc>
              </a:tr>
            </a:tbl>
          </a:graphicData>
        </a:graphic>
      </p:graphicFrame>
      <p:sp>
        <p:nvSpPr>
          <p:cNvPr id="5" name="Text 2"/>
          <p:cNvSpPr/>
          <p:nvPr/>
        </p:nvSpPr>
        <p:spPr>
          <a:xfrm>
            <a:off x="640080" y="3840480"/>
            <a:ext cx="10972800" cy="109728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Consequence: </a:t>
            </a:r>
            <a:pPr indent="0" marL="0">
              <a:buNone/>
            </a:pPr>
            <a:r>
              <a:rPr lang="en-US" sz="1500" dirty="0">
                <a:solidFill>
                  <a:srgbClr val="1A1A2E"/>
                </a:solidFill>
                <a:latin typeface="Calibri" pitchFamily="34" charset="0"/>
                <a:ea typeface="Calibri" pitchFamily="34" charset="-122"/>
                <a:cs typeface="Calibri" pitchFamily="34" charset="-120"/>
              </a:rPr>
              <a:t>inflection rides on T-1 while 49financial and Cottonwood ride on T — inside the single artifact that decides what each partner is paid. The partners are not comparable in that file. This must be fixed regardless of any restatement decision, and the fix is per-feed labeling policy (normalize Orion only), never a blanket normalization.</a:t>
            </a:r>
            <a:endParaRPr lang="en-US" sz="1500" dirty="0"/>
          </a:p>
        </p:txBody>
      </p:sp>
      <p:sp>
        <p:nvSpPr>
          <p:cNvPr id="6" name="Text 3"/>
          <p:cNvSpPr/>
          <p:nvPr/>
        </p:nvSpPr>
        <p:spPr>
          <a:xfrm>
            <a:off x="640080" y="5029200"/>
            <a:ext cx="10972800" cy="822960"/>
          </a:xfrm>
          <a:prstGeom prst="rect">
            <a:avLst/>
          </a:prstGeom>
          <a:noFill/>
          <a:ln/>
        </p:spPr>
        <p:txBody>
          <a:bodyPr wrap="square" rtlCol="0" anchor="ctr"/>
          <a:lstStyle/>
          <a:p>
            <a:pPr indent="0" marL="0">
              <a:buNone/>
            </a:pPr>
            <a:r>
              <a:rPr lang="en-US" sz="1250" i="1" dirty="0">
                <a:solidFill>
                  <a:srgbClr val="5A6280"/>
                </a:solidFill>
                <a:latin typeface="Calibri" pitchFamily="34" charset="0"/>
                <a:ea typeface="Calibri" pitchFamily="34" charset="-122"/>
                <a:cs typeface="Calibri" pitchFamily="34" charset="-120"/>
              </a:rPr>
              <a:t>Also still open and unexplained: true 07-13 (Mon) and true 07-15 (Wed) carry an IDENTICAL ETF vector to the cent — two different settled days. “Holdings should be a raw fact.” Normalization does not resolve this; it stays on the record.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Open decisions — all three are yours</a:t>
            </a:r>
            <a:endParaRPr lang="en-US" sz="3200" dirty="0"/>
          </a:p>
        </p:txBody>
      </p:sp>
      <p:sp>
        <p:nvSpPr>
          <p:cNvPr id="3" name="Shape 1"/>
          <p:cNvSpPr/>
          <p:nvPr/>
        </p:nvSpPr>
        <p:spPr>
          <a:xfrm>
            <a:off x="822960" y="1527048"/>
            <a:ext cx="502920" cy="502920"/>
          </a:xfrm>
          <a:prstGeom prst="ellipse">
            <a:avLst/>
          </a:prstGeom>
          <a:solidFill>
            <a:srgbClr val="C9A227"/>
          </a:solidFill>
          <a:ln/>
        </p:spPr>
      </p:sp>
      <p:sp>
        <p:nvSpPr>
          <p:cNvPr id="4" name="Text 2"/>
          <p:cNvSpPr/>
          <p:nvPr/>
        </p:nvSpPr>
        <p:spPr>
          <a:xfrm>
            <a:off x="822960" y="1527048"/>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600200" y="1417320"/>
            <a:ext cx="9601200" cy="411480"/>
          </a:xfrm>
          <a:prstGeom prst="rect">
            <a:avLst/>
          </a:prstGeom>
          <a:noFill/>
          <a:ln/>
        </p:spPr>
        <p:txBody>
          <a:bodyPr wrap="square" lIns="0" tIns="0" rIns="0" bIns="0" rtlCol="0" anchor="ctr"/>
          <a:lstStyle/>
          <a:p>
            <a:pPr indent="0" marL="0">
              <a:buNone/>
            </a:pPr>
            <a:r>
              <a:rPr lang="en-US" sz="1900" b="1" dirty="0">
                <a:solidFill>
                  <a:srgbClr val="CADCFC"/>
                </a:solidFill>
                <a:latin typeface="Calibri" pitchFamily="34" charset="0"/>
                <a:ea typeface="Calibri" pitchFamily="34" charset="-122"/>
                <a:cs typeface="Calibri" pitchFamily="34" charset="-120"/>
              </a:rPr>
              <a:t>Build the normalization?</a:t>
            </a:r>
            <a:endParaRPr lang="en-US" sz="1900" dirty="0"/>
          </a:p>
        </p:txBody>
      </p:sp>
      <p:sp>
        <p:nvSpPr>
          <p:cNvPr id="6" name="Text 4"/>
          <p:cNvSpPr/>
          <p:nvPr/>
        </p:nvSpPr>
        <p:spPr>
          <a:xfrm>
            <a:off x="1600200" y="1828800"/>
            <a:ext cx="960120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ETFS_ORION_LABEL_NORMALIZATION spec is written @8f0e32a642 and held. It re-labels Orion feeds to true settled dates at the rebate chain — per-feed, never blanket.</a:t>
            </a:r>
            <a:endParaRPr lang="en-US" sz="1300" dirty="0"/>
          </a:p>
        </p:txBody>
      </p:sp>
      <p:sp>
        <p:nvSpPr>
          <p:cNvPr id="7" name="Shape 5"/>
          <p:cNvSpPr/>
          <p:nvPr/>
        </p:nvSpPr>
        <p:spPr>
          <a:xfrm>
            <a:off x="822960" y="2944368"/>
            <a:ext cx="502920" cy="502920"/>
          </a:xfrm>
          <a:prstGeom prst="ellipse">
            <a:avLst/>
          </a:prstGeom>
          <a:solidFill>
            <a:srgbClr val="C9A227"/>
          </a:solidFill>
          <a:ln/>
        </p:spPr>
      </p:sp>
      <p:sp>
        <p:nvSpPr>
          <p:cNvPr id="8" name="Text 6"/>
          <p:cNvSpPr/>
          <p:nvPr/>
        </p:nvSpPr>
        <p:spPr>
          <a:xfrm>
            <a:off x="822960" y="2944368"/>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600200" y="2834640"/>
            <a:ext cx="9601200" cy="411480"/>
          </a:xfrm>
          <a:prstGeom prst="rect">
            <a:avLst/>
          </a:prstGeom>
          <a:noFill/>
          <a:ln/>
        </p:spPr>
        <p:txBody>
          <a:bodyPr wrap="square" lIns="0" tIns="0" rIns="0" bIns="0" rtlCol="0" anchor="ctr"/>
          <a:lstStyle/>
          <a:p>
            <a:pPr indent="0" marL="0">
              <a:buNone/>
            </a:pPr>
            <a:r>
              <a:rPr lang="en-US" sz="1900" b="1" dirty="0">
                <a:solidFill>
                  <a:srgbClr val="CADCFC"/>
                </a:solidFill>
                <a:latin typeface="Calibri" pitchFamily="34" charset="0"/>
                <a:ea typeface="Calibri" pitchFamily="34" charset="-122"/>
                <a:cs typeface="Calibri" pitchFamily="34" charset="-120"/>
              </a:rPr>
              <a:t>Restate July (or any month)?</a:t>
            </a:r>
            <a:endParaRPr lang="en-US" sz="1900" dirty="0"/>
          </a:p>
        </p:txBody>
      </p:sp>
      <p:sp>
        <p:nvSpPr>
          <p:cNvPr id="10" name="Text 8"/>
          <p:cNvSpPr/>
          <p:nvPr/>
        </p:nvSpPr>
        <p:spPr>
          <a:xfrm>
            <a:off x="1600200" y="3246120"/>
            <a:ext cx="960120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partner has been told anything. The +$424,062.91 / 0.891% measurement is memorialized; restatement is a business call, not a data call.</a:t>
            </a:r>
            <a:endParaRPr lang="en-US" sz="1300" dirty="0"/>
          </a:p>
        </p:txBody>
      </p:sp>
      <p:sp>
        <p:nvSpPr>
          <p:cNvPr id="11" name="Shape 9"/>
          <p:cNvSpPr/>
          <p:nvPr/>
        </p:nvSpPr>
        <p:spPr>
          <a:xfrm>
            <a:off x="822960" y="4361688"/>
            <a:ext cx="502920" cy="502920"/>
          </a:xfrm>
          <a:prstGeom prst="ellipse">
            <a:avLst/>
          </a:prstGeom>
          <a:solidFill>
            <a:srgbClr val="C9A227"/>
          </a:solidFill>
          <a:ln/>
        </p:spPr>
      </p:sp>
      <p:sp>
        <p:nvSpPr>
          <p:cNvPr id="12" name="Text 10"/>
          <p:cNvSpPr/>
          <p:nvPr/>
        </p:nvSpPr>
        <p:spPr>
          <a:xfrm>
            <a:off x="822960" y="4361688"/>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600200" y="4251960"/>
            <a:ext cx="9601200" cy="411480"/>
          </a:xfrm>
          <a:prstGeom prst="rect">
            <a:avLst/>
          </a:prstGeom>
          <a:noFill/>
          <a:ln/>
        </p:spPr>
        <p:txBody>
          <a:bodyPr wrap="square" lIns="0" tIns="0" rIns="0" bIns="0" rtlCol="0" anchor="ctr"/>
          <a:lstStyle/>
          <a:p>
            <a:pPr indent="0" marL="0">
              <a:buNone/>
            </a:pPr>
            <a:r>
              <a:rPr lang="en-US" sz="1900" b="1" dirty="0">
                <a:solidFill>
                  <a:srgbClr val="CADCFC"/>
                </a:solidFill>
                <a:latin typeface="Calibri" pitchFamily="34" charset="0"/>
                <a:ea typeface="Calibri" pitchFamily="34" charset="-122"/>
                <a:cs typeface="Calibri" pitchFamily="34" charset="-120"/>
              </a:rPr>
              <a:t>Which aggregation is AVGCAP?</a:t>
            </a:r>
            <a:endParaRPr lang="en-US" sz="1900" dirty="0"/>
          </a:p>
        </p:txBody>
      </p:sp>
      <p:sp>
        <p:nvSpPr>
          <p:cNvPr id="14" name="Text 12"/>
          <p:cNvSpPr/>
          <p:nvPr/>
        </p:nvSpPr>
        <p:spPr>
          <a:xfrm>
            <a:off x="1600200" y="4663440"/>
            <a:ext cx="960120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Every figure in this deck assumes simple trading-day mean. If production AVGCAP averages differently (calendar days with carries), inflection and Cottonwood shift materially. One confirmation unlocks final certainty.</a:t>
            </a:r>
            <a:endParaRPr lang="en-US" sz="1300" dirty="0"/>
          </a:p>
        </p:txBody>
      </p:sp>
      <p:sp>
        <p:nvSpPr>
          <p:cNvPr id="15" name="Text 13"/>
          <p:cNvSpPr/>
          <p:nvPr/>
        </p:nvSpPr>
        <p:spPr>
          <a:xfrm>
            <a:off x="822960" y="5989320"/>
            <a:ext cx="10515600" cy="45720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Data debt on the record: partial-flag re-key to written coverage (DS) · 07-13/07-15 identical-vector residual · Sep-1 fire carries roster-derived CSV count.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2026-08-03T15:48:00Z</dcterms:created>
  <dcterms:modified xsi:type="dcterms:W3CDTF">2026-08-03T15:48:00Z</dcterms:modified>
</cp:coreProperties>
</file>